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58" r:id="rId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 snapToObjects="1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DD3D8B-F941-7A44-B495-413DB63A30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B23EC-11DF-5B40-9B28-3E40FA681C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B7431-2289-5947-8194-0CFC384CFC9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D1D374-B28A-3D41-A294-73C33793DB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59AA9A-0116-BE47-8880-25F32F2DBD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89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PR, 2019-2020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847C52-DF7F-F947-B704-F0BAD17B1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13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47C52-DF7F-F947-B704-F0BAD17B1E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83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847C52-DF7F-F947-B704-F0BAD17B1E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584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526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57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8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93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3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8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5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6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40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7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9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6. 4. 2020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PR19-20, Vmesna predstavitev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BC8BC1-971C-5C4D-898D-87CE7EF1E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92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udentski-servis.com/student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C146EC-635D-434E-871A-999618A61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56" y="19718"/>
            <a:ext cx="2300583" cy="2228849"/>
          </a:xfrm>
          <a:ln>
            <a:solidFill>
              <a:schemeClr val="tx1"/>
            </a:solidFill>
          </a:ln>
        </p:spPr>
        <p:txBody>
          <a:bodyPr anchor="t">
            <a:normAutofit fontScale="90000"/>
          </a:bodyPr>
          <a:lstStyle/>
          <a:p>
            <a:r>
              <a:rPr lang="sl-SI" b="1" dirty="0"/>
              <a:t>Analiza ponudbe študentskega dela v Sloveniji na podlagi oglasov e-Študentskega servisa</a:t>
            </a:r>
            <a:br>
              <a:rPr lang="sl-SI" b="1" dirty="0"/>
            </a:br>
            <a:br>
              <a:rPr lang="sl-SI" b="1" dirty="0"/>
            </a:b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CFDA8A2-4269-E344-ADF2-94E0D8305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6953" y="19718"/>
            <a:ext cx="6610190" cy="478088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Podatki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Vir podatkov: aplikacija </a:t>
            </a:r>
            <a:r>
              <a:rPr lang="sl-SI" sz="1600" dirty="0">
                <a:hlinkClick r:id="rId3"/>
              </a:rPr>
              <a:t>e-Študentskega servisa</a:t>
            </a:r>
            <a:r>
              <a:rPr lang="en-US" sz="1600" dirty="0">
                <a:hlinkClick r:id="rId3"/>
              </a:rPr>
              <a:t> </a:t>
            </a:r>
            <a:endParaRPr lang="sl-SI" sz="1600" dirty="0"/>
          </a:p>
          <a:p>
            <a:pPr>
              <a:buFontTx/>
              <a:buChar char="-"/>
            </a:pPr>
            <a:r>
              <a:rPr lang="sl-SI" sz="1600" dirty="0"/>
              <a:t>Hranjenje:  tabeli </a:t>
            </a:r>
            <a:r>
              <a:rPr lang="sl-SI" sz="1600" dirty="0">
                <a:solidFill>
                  <a:schemeClr val="tx2"/>
                </a:solidFill>
              </a:rPr>
              <a:t>data.csv </a:t>
            </a:r>
            <a:r>
              <a:rPr lang="sl-SI" sz="1600" dirty="0"/>
              <a:t>in </a:t>
            </a:r>
            <a:r>
              <a:rPr lang="sl-SI" sz="1600" dirty="0">
                <a:solidFill>
                  <a:schemeClr val="tx2"/>
                </a:solidFill>
              </a:rPr>
              <a:t>changes.csv</a:t>
            </a:r>
          </a:p>
          <a:p>
            <a:pPr>
              <a:buFontTx/>
              <a:buChar char="-"/>
            </a:pPr>
            <a:r>
              <a:rPr lang="sl-SI" sz="1600" dirty="0"/>
              <a:t>Tip podatkov: strukturirani in nestrukturirani</a:t>
            </a:r>
            <a:endParaRPr lang="sl-SI" sz="1600" dirty="0">
              <a:solidFill>
                <a:schemeClr val="tx2"/>
              </a:solidFill>
            </a:endParaRPr>
          </a:p>
          <a:p>
            <a:pPr>
              <a:buFontTx/>
              <a:buChar char="-"/>
            </a:pPr>
            <a:r>
              <a:rPr lang="sl-SI" sz="1600" dirty="0"/>
              <a:t>Namen zbiranja: Analiza trga študentskega dela v Sloveniji, podpora študentom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Obseg podatkov: več kot 4400 oglasov</a:t>
            </a:r>
          </a:p>
          <a:p>
            <a:pPr>
              <a:buFontTx/>
              <a:buChar char="-"/>
            </a:pPr>
            <a:r>
              <a:rPr lang="sl-SI" sz="1600" dirty="0" err="1"/>
              <a:t>Predprocesiranje</a:t>
            </a:r>
            <a:r>
              <a:rPr lang="sl-SI" sz="1600" dirty="0"/>
              <a:t>: Normalizacija lokacije → 12 </a:t>
            </a:r>
            <a:r>
              <a:rPr lang="sl-SI" sz="1600" dirty="0" err="1"/>
              <a:t>statistčnih</a:t>
            </a:r>
            <a:r>
              <a:rPr lang="sl-SI" sz="1600" dirty="0"/>
              <a:t> regij in </a:t>
            </a:r>
          </a:p>
          <a:p>
            <a:pPr marL="0" indent="0">
              <a:buNone/>
            </a:pPr>
            <a:r>
              <a:rPr lang="sl-SI" sz="1600" dirty="0"/>
              <a:t>    tipa plačila oglasov → standardizirane kategorije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sl-SI" sz="1600" b="1" dirty="0"/>
          </a:p>
          <a:p>
            <a:pPr marL="0" indent="0">
              <a:buNone/>
            </a:pPr>
            <a:r>
              <a:rPr lang="en-US" sz="1600" b="1" dirty="0" err="1"/>
              <a:t>Glavna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r>
              <a:rPr lang="en-US" sz="1600" b="1" dirty="0"/>
              <a:t>/</a:t>
            </a:r>
            <a:r>
              <a:rPr lang="en-US" sz="1600" b="1" dirty="0" err="1"/>
              <a:t>cilji</a:t>
            </a:r>
            <a:r>
              <a:rPr lang="en-US" sz="1600" b="1" dirty="0"/>
              <a:t> </a:t>
            </a:r>
            <a:r>
              <a:rPr lang="en-US" sz="1600" b="1" dirty="0" err="1"/>
              <a:t>podatkovnega</a:t>
            </a:r>
            <a:r>
              <a:rPr lang="en-US" sz="1600" b="1" dirty="0"/>
              <a:t> </a:t>
            </a:r>
            <a:r>
              <a:rPr lang="en-US" sz="1600" b="1" dirty="0" err="1"/>
              <a:t>rudarjenja</a:t>
            </a:r>
            <a:endParaRPr lang="en-US" sz="1600" b="1" dirty="0"/>
          </a:p>
          <a:p>
            <a:pPr>
              <a:buFontTx/>
              <a:buChar char="-"/>
            </a:pPr>
            <a:r>
              <a:rPr lang="sl-SI" sz="1600" dirty="0"/>
              <a:t>Kje in za kakšno delo se študentom splača delati?</a:t>
            </a:r>
            <a:endParaRPr lang="en-US" sz="1600" dirty="0"/>
          </a:p>
          <a:p>
            <a:pPr>
              <a:buFontTx/>
              <a:buChar char="-"/>
            </a:pPr>
            <a:r>
              <a:rPr lang="sl-SI" sz="1600" dirty="0"/>
              <a:t>Kako se trg giblje skozi čas - kdaj in zakaj se plače dvigajo?</a:t>
            </a:r>
          </a:p>
          <a:p>
            <a:pPr>
              <a:buFontTx/>
              <a:buChar char="-"/>
            </a:pPr>
            <a:r>
              <a:rPr lang="sl-SI" sz="1600" dirty="0"/>
              <a:t>Katera podjetja in regije dominirajo ponudbo?</a:t>
            </a:r>
            <a:endParaRPr lang="en-US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C06591-6F1C-3D47-A5E3-851DD4C33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57" y="2480808"/>
            <a:ext cx="2300583" cy="231979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sl-SI" sz="1600" b="1" dirty="0"/>
              <a:t>Ekipa:</a:t>
            </a:r>
          </a:p>
          <a:p>
            <a:r>
              <a:rPr lang="sl-SI" dirty="0" err="1"/>
              <a:t>Sven</a:t>
            </a:r>
            <a:r>
              <a:rPr lang="sl-SI" dirty="0"/>
              <a:t> Ulčar</a:t>
            </a:r>
            <a:endParaRPr lang="en-US" dirty="0"/>
          </a:p>
          <a:p>
            <a:r>
              <a:rPr lang="sl-SI" dirty="0"/>
              <a:t>Lan Lebar</a:t>
            </a:r>
            <a:endParaRPr lang="en-US" dirty="0"/>
          </a:p>
          <a:p>
            <a:r>
              <a:rPr lang="sl-SI" dirty="0"/>
              <a:t>Jan Tuhtar</a:t>
            </a:r>
            <a:endParaRPr lang="en-US" dirty="0"/>
          </a:p>
          <a:p>
            <a:r>
              <a:rPr lang="sl-SI" dirty="0"/>
              <a:t>Žan Mlinar</a:t>
            </a:r>
            <a:endParaRPr lang="en-US" dirty="0"/>
          </a:p>
          <a:p>
            <a:r>
              <a:rPr lang="sl-SI" dirty="0"/>
              <a:t>Jan Zamernik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9DFD98F4-ADE1-F744-9B6A-40089884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8312DDA-E7F7-8F45-A990-461B0008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A786EEA-6C8C-664D-87E4-F9330A70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1</a:t>
            </a:fld>
            <a:endParaRPr lang="en-US"/>
          </a:p>
        </p:txBody>
      </p:sp>
      <p:pic>
        <p:nvPicPr>
          <p:cNvPr id="16" name="Slika 15">
            <a:extLst>
              <a:ext uri="{FF2B5EF4-FFF2-40B4-BE49-F238E27FC236}">
                <a16:creationId xmlns:a16="http://schemas.microsoft.com/office/drawing/2014/main" id="{BE20CB34-35EF-F744-6325-9D6986F47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6889" y="2836771"/>
            <a:ext cx="5476991" cy="60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9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94EB-9AF8-C443-A38F-2140C80C7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965" y="343576"/>
            <a:ext cx="4403432" cy="447189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500" dirty="0"/>
              <a:t>Primerjalna analiza urnih postavk po regijah in kategorijah dela</a:t>
            </a:r>
          </a:p>
          <a:p>
            <a:r>
              <a:rPr lang="sl-SI" sz="1500" dirty="0"/>
              <a:t>Sledenje spremembam oglasov (dvigi plač, trajanje aktivnosti)</a:t>
            </a:r>
          </a:p>
          <a:p>
            <a:r>
              <a:rPr lang="sl-SI" sz="1500" dirty="0"/>
              <a:t>Analiza strukture trga: koncentracija podjetij, geografska porazdelitev</a:t>
            </a:r>
          </a:p>
          <a:p>
            <a:r>
              <a:rPr lang="sl-SI" sz="1500" dirty="0" err="1"/>
              <a:t>Regex</a:t>
            </a:r>
            <a:r>
              <a:rPr lang="sl-SI" sz="1500" dirty="0"/>
              <a:t> analiza opisov del </a:t>
            </a:r>
          </a:p>
          <a:p>
            <a:r>
              <a:rPr lang="sl-SI" sz="1500" dirty="0"/>
              <a:t>Testiranje hipoteze: višja plača → hitrejše zapolnjevanje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FC9798E-C22A-6049-8D8E-80BEDDEA7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88962" y="338292"/>
            <a:ext cx="4462272" cy="4477176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sl-SI" sz="1500" dirty="0"/>
              <a:t>Majhen vpliv regije na plačo (razpon median 0,42€), velik vpliv vrste dela (razpon 3,45€)</a:t>
            </a:r>
          </a:p>
          <a:p>
            <a:r>
              <a:rPr lang="sl-SI" sz="1500" dirty="0"/>
              <a:t>Vse spremembe postavke → dvigi (približno 1€ po okoli 14 dneh od objave)</a:t>
            </a:r>
          </a:p>
          <a:p>
            <a:r>
              <a:rPr lang="sl-SI" sz="1500" dirty="0"/>
              <a:t>Močno </a:t>
            </a:r>
            <a:r>
              <a:rPr lang="sl-SI" sz="1500" dirty="0" err="1"/>
              <a:t>fragmentiran</a:t>
            </a:r>
            <a:r>
              <a:rPr lang="sl-SI" sz="1500" dirty="0"/>
              <a:t> trg: 73% podjetij le en oglas, osrednjeslovenska = 43% celotne ponudbe</a:t>
            </a:r>
          </a:p>
          <a:p>
            <a:r>
              <a:rPr lang="sl-SI" sz="1500" dirty="0"/>
              <a:t>Le 1% omenja programski jezik, najpogosteje Java</a:t>
            </a:r>
          </a:p>
          <a:p>
            <a:r>
              <a:rPr lang="sl-SI" sz="1500" dirty="0"/>
              <a:t>Korelacija plača-trajanje oglasa: praktično 0</a:t>
            </a:r>
          </a:p>
          <a:p>
            <a:endParaRPr lang="sl-SI" sz="1600" dirty="0"/>
          </a:p>
          <a:p>
            <a:endParaRPr lang="sl-SI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814E3-8963-334D-848C-E4EE0D7A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C8BC1-971C-5C4D-898D-87CE7EF1EB36}" type="slidenum">
              <a:rPr lang="en-US" smtClean="0"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4343F5-9AFD-314A-B851-B4B16EF4AB6C}"/>
              </a:ext>
            </a:extLst>
          </p:cNvPr>
          <p:cNvSpPr txBox="1">
            <a:spLocks/>
          </p:cNvSpPr>
          <p:nvPr/>
        </p:nvSpPr>
        <p:spPr>
          <a:xfrm>
            <a:off x="92765" y="82696"/>
            <a:ext cx="440343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 err="1"/>
              <a:t>Podroben</a:t>
            </a:r>
            <a:r>
              <a:rPr lang="en-US" sz="1600" b="1" dirty="0"/>
              <a:t> </a:t>
            </a:r>
            <a:r>
              <a:rPr lang="en-US" sz="1600" b="1" dirty="0" err="1"/>
              <a:t>opis</a:t>
            </a:r>
            <a:r>
              <a:rPr lang="en-US" sz="1600" b="1" dirty="0"/>
              <a:t> </a:t>
            </a:r>
            <a:r>
              <a:rPr lang="en-US" sz="1600" b="1" dirty="0" err="1"/>
              <a:t>ciljev</a:t>
            </a:r>
            <a:r>
              <a:rPr lang="en-US" sz="1600" b="1" dirty="0"/>
              <a:t> in </a:t>
            </a:r>
            <a:r>
              <a:rPr lang="en-US" sz="1600" b="1" dirty="0" err="1"/>
              <a:t>metod</a:t>
            </a:r>
            <a:endParaRPr lang="en-US" sz="1600" b="1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B9F5A0B-66B3-574B-8ADF-47E9BEA982E5}"/>
              </a:ext>
            </a:extLst>
          </p:cNvPr>
          <p:cNvSpPr txBox="1">
            <a:spLocks/>
          </p:cNvSpPr>
          <p:nvPr/>
        </p:nvSpPr>
        <p:spPr>
          <a:xfrm>
            <a:off x="4572000" y="735195"/>
            <a:ext cx="4436828" cy="3040640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90225E6-F674-D74E-9E6E-25DF3C6A53B1}"/>
              </a:ext>
            </a:extLst>
          </p:cNvPr>
          <p:cNvSpPr txBox="1">
            <a:spLocks/>
          </p:cNvSpPr>
          <p:nvPr/>
        </p:nvSpPr>
        <p:spPr>
          <a:xfrm>
            <a:off x="4588962" y="82696"/>
            <a:ext cx="4462272" cy="372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 err="1"/>
              <a:t>Rezultati</a:t>
            </a:r>
            <a:r>
              <a:rPr lang="en-US" sz="1600" b="1" dirty="0"/>
              <a:t>/</a:t>
            </a:r>
            <a:r>
              <a:rPr lang="en-US" sz="1600" b="1" dirty="0" err="1"/>
              <a:t>dosedanje</a:t>
            </a:r>
            <a:r>
              <a:rPr lang="en-US" sz="1600" b="1" dirty="0"/>
              <a:t> </a:t>
            </a:r>
            <a:r>
              <a:rPr lang="en-US" sz="1600" b="1" dirty="0" err="1"/>
              <a:t>ugotovitve</a:t>
            </a:r>
            <a:r>
              <a:rPr lang="en-US" sz="1600" b="1" dirty="0"/>
              <a:t>/</a:t>
            </a:r>
            <a:r>
              <a:rPr lang="en-US" sz="1600" b="1" dirty="0" err="1"/>
              <a:t>odprta</a:t>
            </a:r>
            <a:r>
              <a:rPr lang="en-US" sz="1600" b="1" dirty="0"/>
              <a:t> </a:t>
            </a:r>
            <a:r>
              <a:rPr lang="en-US" sz="1600" b="1" dirty="0" err="1"/>
              <a:t>vprašanja</a:t>
            </a:r>
            <a:endParaRPr lang="en-US" sz="1600" b="1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482387C3-9A8A-9A47-8F63-FDB8F168E7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57" y="4800600"/>
            <a:ext cx="3754164" cy="273844"/>
          </a:xfrm>
        </p:spPr>
        <p:txBody>
          <a:bodyPr/>
          <a:lstStyle/>
          <a:p>
            <a:r>
              <a:rPr lang="en-US" dirty="0"/>
              <a:t>15. 4. 2026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D533418-37C8-B143-91FA-663B1D49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r>
              <a:rPr lang="en-US" dirty="0"/>
              <a:t>PR25-26, </a:t>
            </a:r>
            <a:r>
              <a:rPr lang="en-US" dirty="0" err="1"/>
              <a:t>Vmesna</a:t>
            </a:r>
            <a:r>
              <a:rPr lang="en-US" dirty="0"/>
              <a:t> </a:t>
            </a:r>
            <a:r>
              <a:rPr lang="en-US" dirty="0" err="1"/>
              <a:t>predstavitev</a:t>
            </a:r>
            <a:endParaRPr lang="en-US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BC04F611-D5EC-9C00-6AE4-7EF8EDDB68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3" t="823"/>
          <a:stretch>
            <a:fillRect/>
          </a:stretch>
        </p:blipFill>
        <p:spPr>
          <a:xfrm>
            <a:off x="4953000" y="2558350"/>
            <a:ext cx="3921158" cy="2239160"/>
          </a:xfrm>
          <a:prstGeom prst="rect">
            <a:avLst/>
          </a:prstGeom>
        </p:spPr>
      </p:pic>
      <p:pic>
        <p:nvPicPr>
          <p:cNvPr id="10" name="Slika 9">
            <a:extLst>
              <a:ext uri="{FF2B5EF4-FFF2-40B4-BE49-F238E27FC236}">
                <a16:creationId xmlns:a16="http://schemas.microsoft.com/office/drawing/2014/main" id="{806F1706-A898-1A26-8A28-58F177179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607" y="2727960"/>
            <a:ext cx="4304139" cy="20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53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13328</TotalTime>
  <Words>262</Words>
  <Application>Microsoft Office PowerPoint</Application>
  <PresentationFormat>Diaprojekcija na zaslonu (16:9)</PresentationFormat>
  <Paragraphs>41</Paragraphs>
  <Slides>2</Slides>
  <Notes>2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Analiza ponudbe študentskega dela v Sloveniji na podlagi oglasov e-Študentskega servisa  </vt:lpstr>
      <vt:lpstr>PowerPointova predstavitev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Naslov projekta naj bo kratek, informativen in naj povzame bistvo projekta</dc:title>
  <dc:subject/>
  <dc:creator>Jan Tuhta</dc:creator>
  <cp:keywords/>
  <dc:description/>
  <cp:lastModifiedBy>Tuhtar, Jan</cp:lastModifiedBy>
  <cp:revision>37</cp:revision>
  <dcterms:created xsi:type="dcterms:W3CDTF">2020-04-03T06:53:29Z</dcterms:created>
  <dcterms:modified xsi:type="dcterms:W3CDTF">2026-04-13T10:36:46Z</dcterms:modified>
  <cp:category/>
</cp:coreProperties>
</file>