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handoutMasterIdLst>
    <p:handoutMasterId r:id="rId6"/>
  </p:handoutMasterIdLst>
  <p:sldIdLst>
    <p:sldId id="256" r:id="rId2"/>
    <p:sldId id="258" r:id="rId3"/>
    <p:sldId id="259" r:id="rId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94"/>
  </p:normalViewPr>
  <p:slideViewPr>
    <p:cSldViewPr snapToGrid="0" snapToObjects="1">
      <p:cViewPr varScale="1">
        <p:scale>
          <a:sx n="103" d="100"/>
          <a:sy n="103" d="100"/>
        </p:scale>
        <p:origin x="90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BDD3D8B-F941-7A44-B495-413DB63A30E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PR, 2019-2020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2B23EC-11DF-5B40-9B28-3E40FA681CA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1B7431-2289-5947-8194-0CFC384CFC9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D1D374-B28A-3D41-A294-73C33793DBA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59AA9A-0116-BE47-8880-25F32F2DB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7889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PR, 2019-2020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847C52-DF7F-F947-B704-F0BAD17B1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71393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847C52-DF7F-F947-B704-F0BAD17B1E3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3839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847C52-DF7F-F947-B704-F0BAD17B1E3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584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847C52-DF7F-F947-B704-F0BAD17B1E3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4415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526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57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282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393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437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588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8515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368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400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47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891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692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tudentski-servis.com/studenti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9C146EC-635D-434E-871A-999618A61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56" y="19718"/>
            <a:ext cx="2300583" cy="2228849"/>
          </a:xfrm>
          <a:ln>
            <a:solidFill>
              <a:schemeClr val="tx1"/>
            </a:solidFill>
          </a:ln>
        </p:spPr>
        <p:txBody>
          <a:bodyPr anchor="t">
            <a:normAutofit fontScale="90000"/>
          </a:bodyPr>
          <a:lstStyle/>
          <a:p>
            <a:r>
              <a:rPr lang="sl-SI" b="1" dirty="0"/>
              <a:t>Analiza ponudbe študentskega dela v Sloveniji na podlagi oglasov e-Študentskega servisa</a:t>
            </a:r>
            <a:br>
              <a:rPr lang="sl-SI" b="1" dirty="0"/>
            </a:br>
            <a:br>
              <a:rPr lang="sl-SI" b="1" dirty="0"/>
            </a:b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CFDA8A2-4269-E344-ADF2-94E0D8305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56953" y="19718"/>
            <a:ext cx="6610190" cy="4780882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 err="1"/>
              <a:t>Podatki</a:t>
            </a:r>
            <a:endParaRPr lang="en-US" sz="1600" b="1" dirty="0"/>
          </a:p>
          <a:p>
            <a:pPr>
              <a:buFontTx/>
              <a:buChar char="-"/>
            </a:pPr>
            <a:r>
              <a:rPr lang="sl-SI" sz="1600" dirty="0"/>
              <a:t>Vir podatkov: aplikacija </a:t>
            </a:r>
            <a:r>
              <a:rPr lang="sl-SI" sz="1600" dirty="0">
                <a:hlinkClick r:id="rId3"/>
              </a:rPr>
              <a:t>e-Študentskega servisa</a:t>
            </a:r>
            <a:r>
              <a:rPr lang="en-US" sz="1600" dirty="0">
                <a:hlinkClick r:id="rId3"/>
              </a:rPr>
              <a:t> </a:t>
            </a:r>
            <a:r>
              <a:rPr lang="sl-SI" sz="1600" dirty="0"/>
              <a:t>. Hranjenje v tabelah data in </a:t>
            </a:r>
            <a:r>
              <a:rPr lang="sl-SI" sz="1600" dirty="0" err="1"/>
              <a:t>changes</a:t>
            </a:r>
            <a:r>
              <a:rPr lang="sl-SI" sz="1600" dirty="0"/>
              <a:t>.</a:t>
            </a:r>
          </a:p>
          <a:p>
            <a:pPr>
              <a:buFontTx/>
              <a:buChar char="-"/>
            </a:pPr>
            <a:r>
              <a:rPr lang="sl-SI" sz="1600" dirty="0"/>
              <a:t>Namen zbiranja: Analiza trga študentskega dela v Sloveniji, podpora študentom</a:t>
            </a:r>
            <a:endParaRPr lang="en-US" sz="1600" dirty="0"/>
          </a:p>
          <a:p>
            <a:pPr>
              <a:buFontTx/>
              <a:buChar char="-"/>
            </a:pPr>
            <a:r>
              <a:rPr lang="sl-SI" sz="1600" dirty="0"/>
              <a:t>Tip podatkov: Tekstovni </a:t>
            </a:r>
            <a:r>
              <a:rPr lang="en-US" sz="1600" dirty="0"/>
              <a:t>in </a:t>
            </a:r>
            <a:r>
              <a:rPr lang="sl-SI" sz="1600" dirty="0"/>
              <a:t>numerični podatki, strukturirani in nestrukturirani</a:t>
            </a:r>
          </a:p>
          <a:p>
            <a:pPr>
              <a:buFontTx/>
              <a:buChar char="-"/>
            </a:pPr>
            <a:r>
              <a:rPr lang="sl-SI" sz="1600" dirty="0"/>
              <a:t>Obseg podatkov: Do danes zbranih več kot 4400 oglasov, del podatkov o oglasu je obvezen</a:t>
            </a:r>
            <a:endParaRPr lang="en-US" sz="1600" dirty="0"/>
          </a:p>
          <a:p>
            <a:pPr>
              <a:buFontTx/>
              <a:buChar char="-"/>
            </a:pPr>
            <a:r>
              <a:rPr lang="sl-SI" sz="1600" dirty="0"/>
              <a:t>Opis </a:t>
            </a:r>
            <a:r>
              <a:rPr lang="sl-SI" sz="1600" dirty="0" err="1"/>
              <a:t>predprocesiranja</a:t>
            </a:r>
            <a:r>
              <a:rPr lang="sl-SI" sz="1600" dirty="0"/>
              <a:t>: Normalizacija lokacije in tipa plačila oglasov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 err="1"/>
              <a:t>Glavna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r>
              <a:rPr lang="en-US" sz="1600" b="1" dirty="0"/>
              <a:t>/</a:t>
            </a:r>
            <a:r>
              <a:rPr lang="en-US" sz="1600" b="1" dirty="0" err="1"/>
              <a:t>cilji</a:t>
            </a:r>
            <a:r>
              <a:rPr lang="en-US" sz="1600" b="1" dirty="0"/>
              <a:t> </a:t>
            </a:r>
            <a:r>
              <a:rPr lang="en-US" sz="1600" b="1" dirty="0" err="1"/>
              <a:t>podatkovnega</a:t>
            </a:r>
            <a:r>
              <a:rPr lang="en-US" sz="1600" b="1" dirty="0"/>
              <a:t> </a:t>
            </a:r>
            <a:r>
              <a:rPr lang="en-US" sz="1600" b="1" dirty="0" err="1"/>
              <a:t>rudarjenja</a:t>
            </a:r>
            <a:endParaRPr lang="en-US" sz="1600" b="1" dirty="0"/>
          </a:p>
          <a:p>
            <a:pPr>
              <a:buFontTx/>
              <a:buChar char="-"/>
            </a:pPr>
            <a:r>
              <a:rPr lang="sl-SI" sz="1600" dirty="0"/>
              <a:t>Ali delodajalci dvigujejo plače, ko oglasa ne morejo zapolniti?</a:t>
            </a:r>
            <a:endParaRPr lang="en-US" sz="1600" dirty="0"/>
          </a:p>
          <a:p>
            <a:pPr>
              <a:buFontTx/>
              <a:buChar char="-"/>
            </a:pPr>
            <a:r>
              <a:rPr lang="sl-SI" sz="1600" dirty="0"/>
              <a:t>Katere lastnosti imajo bolje plačani oglasi?</a:t>
            </a:r>
            <a:endParaRPr lang="en-US" sz="1600" dirty="0"/>
          </a:p>
          <a:p>
            <a:pPr>
              <a:buFontTx/>
              <a:buChar char="-"/>
            </a:pPr>
            <a:r>
              <a:rPr lang="sl-SI" sz="1600" dirty="0"/>
              <a:t>Kje so dela najbolj plačana?</a:t>
            </a:r>
            <a:endParaRPr lang="en-US" sz="1600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AC06591-6F1C-3D47-A5E3-851DD4C33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857" y="2480808"/>
            <a:ext cx="2300583" cy="2319792"/>
          </a:xfrm>
          <a:ln>
            <a:solidFill>
              <a:schemeClr val="tx1"/>
            </a:solidFill>
          </a:ln>
        </p:spPr>
        <p:txBody>
          <a:bodyPr/>
          <a:lstStyle/>
          <a:p>
            <a:r>
              <a:rPr lang="sl-SI" sz="1600" b="1" dirty="0"/>
              <a:t>Ekipa:</a:t>
            </a:r>
          </a:p>
          <a:p>
            <a:r>
              <a:rPr lang="sl-SI" dirty="0" err="1"/>
              <a:t>Sven</a:t>
            </a:r>
            <a:r>
              <a:rPr lang="sl-SI" dirty="0"/>
              <a:t> Ulčar</a:t>
            </a:r>
            <a:endParaRPr lang="en-US" dirty="0"/>
          </a:p>
          <a:p>
            <a:r>
              <a:rPr lang="sl-SI" dirty="0"/>
              <a:t>Lan Lebar</a:t>
            </a:r>
            <a:endParaRPr lang="en-US" dirty="0"/>
          </a:p>
          <a:p>
            <a:r>
              <a:rPr lang="sl-SI" dirty="0"/>
              <a:t>Jan Tuhtar</a:t>
            </a:r>
            <a:endParaRPr lang="en-US" dirty="0"/>
          </a:p>
          <a:p>
            <a:r>
              <a:rPr lang="sl-SI" dirty="0"/>
              <a:t>Žan Mlinar</a:t>
            </a:r>
            <a:endParaRPr lang="en-US" dirty="0"/>
          </a:p>
          <a:p>
            <a:r>
              <a:rPr lang="sl-SI" dirty="0"/>
              <a:t>Jan Zamernik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9DFD98F4-ADE1-F744-9B6A-400898849E9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8312DDA-E7F7-8F45-A990-461B00087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BA786EEA-6C8C-664D-87E4-F9330A705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1</a:t>
            </a:fld>
            <a:endParaRPr lang="en-US"/>
          </a:p>
        </p:txBody>
      </p:sp>
      <p:pic>
        <p:nvPicPr>
          <p:cNvPr id="16" name="Slika 15">
            <a:extLst>
              <a:ext uri="{FF2B5EF4-FFF2-40B4-BE49-F238E27FC236}">
                <a16:creationId xmlns:a16="http://schemas.microsoft.com/office/drawing/2014/main" id="{BE20CB34-35EF-F744-6325-9D6986F47B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6889" y="2857228"/>
            <a:ext cx="5476991" cy="60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398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9094EB-9AF8-C443-A38F-2140C80C7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0719" y="397764"/>
            <a:ext cx="4403432" cy="4336162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l-SI" sz="1600" b="1" dirty="0"/>
              <a:t>Ali delodajalci dvigujejo plače, ko oglasa ne morejo zapolniti? </a:t>
            </a:r>
          </a:p>
          <a:p>
            <a:r>
              <a:rPr lang="sl-SI" sz="1600" dirty="0"/>
              <a:t>Analiza sprememb urne postavke</a:t>
            </a:r>
          </a:p>
          <a:p>
            <a:r>
              <a:rPr lang="sl-SI" sz="1600" dirty="0"/>
              <a:t>Spremljamo spremembe postavke glede na količino spremembe in čas od objave oglasa</a:t>
            </a:r>
          </a:p>
          <a:p>
            <a:endParaRPr lang="sl-SI" sz="1600" dirty="0"/>
          </a:p>
          <a:p>
            <a:pPr marL="0" indent="0">
              <a:buNone/>
            </a:pPr>
            <a:endParaRPr lang="sl-SI" sz="1600" dirty="0"/>
          </a:p>
          <a:p>
            <a:pPr marL="0" indent="0">
              <a:buNone/>
            </a:pPr>
            <a:r>
              <a:rPr lang="sl-SI" sz="1600" b="1" dirty="0"/>
              <a:t>Katere lastnosti imajo bolje plačani oglasi? Kje so dela najbolj plačana?</a:t>
            </a:r>
          </a:p>
          <a:p>
            <a:r>
              <a:rPr lang="sl-SI" sz="1600" dirty="0"/>
              <a:t>Uporabimo oglase s tipom plačila HOURLY</a:t>
            </a:r>
            <a:endParaRPr lang="sl-SI" sz="1600" b="1" dirty="0"/>
          </a:p>
          <a:p>
            <a:r>
              <a:rPr lang="sl-SI" sz="1600" dirty="0"/>
              <a:t>Primerjava postavke glede na ostale atribute oglasa</a:t>
            </a:r>
          </a:p>
          <a:p>
            <a:pPr marL="0" indent="0">
              <a:buNone/>
            </a:pPr>
            <a:endParaRPr lang="sl-SI" sz="1600" dirty="0"/>
          </a:p>
          <a:p>
            <a:pPr marL="0" indent="0">
              <a:buNone/>
            </a:pPr>
            <a:r>
              <a:rPr lang="sl-SI" sz="1600" dirty="0"/>
              <a:t>  </a:t>
            </a:r>
            <a:endParaRPr lang="en-US" sz="1600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BFC9798E-C22A-6049-8D8E-80BEDDEA70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88962" y="397764"/>
            <a:ext cx="4462272" cy="4336162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sl-SI" sz="1600" dirty="0"/>
              <a:t>Mediana dni do dviga: 15</a:t>
            </a:r>
          </a:p>
          <a:p>
            <a:endParaRPr lang="sl-SI" sz="1600" dirty="0"/>
          </a:p>
          <a:p>
            <a:endParaRPr lang="sl-SI" sz="1600" dirty="0"/>
          </a:p>
          <a:p>
            <a:endParaRPr lang="sl-SI" sz="1600" dirty="0"/>
          </a:p>
          <a:p>
            <a:endParaRPr lang="sl-SI" sz="1600" dirty="0"/>
          </a:p>
          <a:p>
            <a:pPr marL="0" indent="0">
              <a:buNone/>
            </a:pPr>
            <a:endParaRPr lang="sl-SI" sz="1600" dirty="0"/>
          </a:p>
          <a:p>
            <a:r>
              <a:rPr lang="sl-SI" sz="1600" dirty="0"/>
              <a:t>Najvišje postavke v promociji</a:t>
            </a:r>
          </a:p>
          <a:p>
            <a:r>
              <a:rPr lang="sl-SI" sz="1600" dirty="0"/>
              <a:t>Dela z manj prostimi mesti ne ponujajo višje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4814E3-8963-334D-848C-E4EE0D7A5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2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94343F5-9AFD-314A-B851-B4B16EF4AB6C}"/>
              </a:ext>
            </a:extLst>
          </p:cNvPr>
          <p:cNvSpPr txBox="1">
            <a:spLocks/>
          </p:cNvSpPr>
          <p:nvPr/>
        </p:nvSpPr>
        <p:spPr>
          <a:xfrm>
            <a:off x="92765" y="82696"/>
            <a:ext cx="440343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 err="1"/>
              <a:t>Podroben</a:t>
            </a:r>
            <a:r>
              <a:rPr lang="en-US" sz="1600" b="1" dirty="0"/>
              <a:t> </a:t>
            </a:r>
            <a:r>
              <a:rPr lang="en-US" sz="1600" b="1" dirty="0" err="1"/>
              <a:t>opis</a:t>
            </a:r>
            <a:r>
              <a:rPr lang="en-US" sz="1600" b="1" dirty="0"/>
              <a:t> </a:t>
            </a:r>
            <a:r>
              <a:rPr lang="en-US" sz="1600" b="1" dirty="0" err="1"/>
              <a:t>ciljev</a:t>
            </a:r>
            <a:r>
              <a:rPr lang="en-US" sz="1600" b="1" dirty="0"/>
              <a:t> in </a:t>
            </a:r>
            <a:r>
              <a:rPr lang="en-US" sz="1600" b="1" dirty="0" err="1"/>
              <a:t>metod</a:t>
            </a:r>
            <a:endParaRPr lang="en-US" sz="1600" b="1" dirty="0"/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7B9F5A0B-66B3-574B-8ADF-47E9BEA982E5}"/>
              </a:ext>
            </a:extLst>
          </p:cNvPr>
          <p:cNvSpPr txBox="1">
            <a:spLocks/>
          </p:cNvSpPr>
          <p:nvPr/>
        </p:nvSpPr>
        <p:spPr>
          <a:xfrm>
            <a:off x="4572000" y="720327"/>
            <a:ext cx="4436828" cy="304064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160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990225E6-F674-D74E-9E6E-25DF3C6A53B1}"/>
              </a:ext>
            </a:extLst>
          </p:cNvPr>
          <p:cNvSpPr txBox="1">
            <a:spLocks/>
          </p:cNvSpPr>
          <p:nvPr/>
        </p:nvSpPr>
        <p:spPr>
          <a:xfrm>
            <a:off x="4588962" y="82696"/>
            <a:ext cx="446227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 err="1"/>
              <a:t>Rezultati</a:t>
            </a:r>
            <a:r>
              <a:rPr lang="en-US" sz="1600" b="1" dirty="0"/>
              <a:t>/</a:t>
            </a:r>
            <a:r>
              <a:rPr lang="en-US" sz="1600" b="1" dirty="0" err="1"/>
              <a:t>dosedanje</a:t>
            </a:r>
            <a:r>
              <a:rPr lang="en-US" sz="1600" b="1" dirty="0"/>
              <a:t> </a:t>
            </a:r>
            <a:r>
              <a:rPr lang="en-US" sz="1600" b="1" dirty="0" err="1"/>
              <a:t>ugotovitve</a:t>
            </a:r>
            <a:r>
              <a:rPr lang="en-US" sz="1600" b="1" dirty="0"/>
              <a:t>/</a:t>
            </a:r>
            <a:r>
              <a:rPr lang="en-US" sz="1600" b="1" dirty="0" err="1"/>
              <a:t>odprta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endParaRPr lang="en-US" sz="16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482387C3-9A8A-9A47-8F63-FDB8F168E7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ED533418-37C8-B143-91FA-663B1D494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pic>
        <p:nvPicPr>
          <p:cNvPr id="14" name="Slika 13">
            <a:extLst>
              <a:ext uri="{FF2B5EF4-FFF2-40B4-BE49-F238E27FC236}">
                <a16:creationId xmlns:a16="http://schemas.microsoft.com/office/drawing/2014/main" id="{90B86B0D-5DB5-8422-DFD2-917430CB85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63"/>
          <a:stretch>
            <a:fillRect/>
          </a:stretch>
        </p:blipFill>
        <p:spPr>
          <a:xfrm>
            <a:off x="4705364" y="650143"/>
            <a:ext cx="3115358" cy="1690516"/>
          </a:xfrm>
          <a:prstGeom prst="rect">
            <a:avLst/>
          </a:prstGeom>
        </p:spPr>
      </p:pic>
      <p:cxnSp>
        <p:nvCxnSpPr>
          <p:cNvPr id="20" name="Raven povezovalnik 19">
            <a:extLst>
              <a:ext uri="{FF2B5EF4-FFF2-40B4-BE49-F238E27FC236}">
                <a16:creationId xmlns:a16="http://schemas.microsoft.com/office/drawing/2014/main" id="{B6CD85A4-87CC-A019-0DF1-ED2FDCA7C78A}"/>
              </a:ext>
            </a:extLst>
          </p:cNvPr>
          <p:cNvCxnSpPr>
            <a:cxnSpLocks/>
          </p:cNvCxnSpPr>
          <p:nvPr/>
        </p:nvCxnSpPr>
        <p:spPr>
          <a:xfrm>
            <a:off x="4577340" y="2367502"/>
            <a:ext cx="44537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Raven povezovalnik 25">
            <a:extLst>
              <a:ext uri="{FF2B5EF4-FFF2-40B4-BE49-F238E27FC236}">
                <a16:creationId xmlns:a16="http://schemas.microsoft.com/office/drawing/2014/main" id="{9E162C5A-703F-59EC-FCB0-7F3EB6216B12}"/>
              </a:ext>
            </a:extLst>
          </p:cNvPr>
          <p:cNvCxnSpPr/>
          <p:nvPr/>
        </p:nvCxnSpPr>
        <p:spPr>
          <a:xfrm flipH="1">
            <a:off x="84811" y="2356078"/>
            <a:ext cx="44193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Slika 27">
            <a:extLst>
              <a:ext uri="{FF2B5EF4-FFF2-40B4-BE49-F238E27FC236}">
                <a16:creationId xmlns:a16="http://schemas.microsoft.com/office/drawing/2014/main" id="{952856E8-6D4E-D382-D9C9-529EEF0A34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3970" y="2884635"/>
            <a:ext cx="3287959" cy="1858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6538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97-45F8-4B43-BA59-BC34FE1B6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391" y="102394"/>
            <a:ext cx="8945218" cy="410942"/>
          </a:xfrm>
        </p:spPr>
        <p:txBody>
          <a:bodyPr>
            <a:normAutofit/>
          </a:bodyPr>
          <a:lstStyle/>
          <a:p>
            <a:r>
              <a:rPr lang="sl-SI" sz="1600" b="1" dirty="0">
                <a:latin typeface="+mn-lt"/>
              </a:rPr>
              <a:t>Dodatne zanimive ugotovitve</a:t>
            </a:r>
            <a:endParaRPr lang="en-US" sz="1600" b="1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36DCB2-1C93-E142-85FE-F367FBA7E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392" y="513336"/>
            <a:ext cx="8945217" cy="425392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sl-SI" sz="1600" dirty="0"/>
              <a:t>Oglasi se ne objavljajo ob vikendih</a:t>
            </a:r>
          </a:p>
          <a:p>
            <a:r>
              <a:rPr lang="sl-SI" sz="1600" dirty="0"/>
              <a:t>Najvišja urna postavka: 60€</a:t>
            </a:r>
          </a:p>
          <a:p>
            <a:r>
              <a:rPr lang="sl-SI" sz="1600" dirty="0"/>
              <a:t>Največ oglasov objavil Mercator (188), sledita mu Lidl(101) in Alpe-</a:t>
            </a:r>
            <a:r>
              <a:rPr lang="sl-SI" sz="1600" dirty="0" err="1"/>
              <a:t>Panon</a:t>
            </a:r>
            <a:r>
              <a:rPr lang="sl-SI" sz="1600" dirty="0"/>
              <a:t>(71)</a:t>
            </a:r>
          </a:p>
          <a:p>
            <a:r>
              <a:rPr lang="sl-SI" sz="1600" dirty="0"/>
              <a:t>Izrazito največ oglasov v osrednjeslovenski regiji (1915), sledita </a:t>
            </a:r>
            <a:r>
              <a:rPr lang="sl-SI" sz="1600"/>
              <a:t>ji gorenjska </a:t>
            </a:r>
            <a:r>
              <a:rPr lang="sl-SI" sz="1600" dirty="0"/>
              <a:t>(481) </a:t>
            </a:r>
            <a:r>
              <a:rPr lang="sl-SI" sz="1600"/>
              <a:t>in podravska </a:t>
            </a:r>
            <a:r>
              <a:rPr lang="sl-SI" sz="1600" dirty="0"/>
              <a:t>(455)</a:t>
            </a:r>
          </a:p>
          <a:p>
            <a:endParaRPr lang="sl-SI" sz="1600" dirty="0"/>
          </a:p>
          <a:p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3A65B7-6F2E-D145-A02C-A24F07A61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3</a:t>
            </a:fld>
            <a:endParaRPr lang="en-US"/>
          </a:p>
        </p:txBody>
      </p:sp>
      <p:sp>
        <p:nvSpPr>
          <p:cNvPr id="8" name="Date Placeholder 11">
            <a:extLst>
              <a:ext uri="{FF2B5EF4-FFF2-40B4-BE49-F238E27FC236}">
                <a16:creationId xmlns:a16="http://schemas.microsoft.com/office/drawing/2014/main" id="{07C4AC33-717C-454A-96DC-39E4E45FC3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9" name="Footer Placeholder 12">
            <a:extLst>
              <a:ext uri="{FF2B5EF4-FFF2-40B4-BE49-F238E27FC236}">
                <a16:creationId xmlns:a16="http://schemas.microsoft.com/office/drawing/2014/main" id="{1E484604-5097-374A-BB61-C5B3CD4C8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pic>
        <p:nvPicPr>
          <p:cNvPr id="12" name="Slika 11">
            <a:extLst>
              <a:ext uri="{FF2B5EF4-FFF2-40B4-BE49-F238E27FC236}">
                <a16:creationId xmlns:a16="http://schemas.microsoft.com/office/drawing/2014/main" id="{8725B8F6-D98A-4EE8-1CAC-8171FF7D5D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75" y="2155707"/>
            <a:ext cx="4695385" cy="2328448"/>
          </a:xfrm>
          <a:prstGeom prst="rect">
            <a:avLst/>
          </a:prstGeom>
        </p:spPr>
      </p:pic>
      <p:pic>
        <p:nvPicPr>
          <p:cNvPr id="14" name="Slika 13">
            <a:extLst>
              <a:ext uri="{FF2B5EF4-FFF2-40B4-BE49-F238E27FC236}">
                <a16:creationId xmlns:a16="http://schemas.microsoft.com/office/drawing/2014/main" id="{C18EFFCE-B5A8-8383-B3BE-F4CDD81C2B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743" y="2338945"/>
            <a:ext cx="3933342" cy="185205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800236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13212</TotalTime>
  <Words>289</Words>
  <Application>Microsoft Office PowerPoint</Application>
  <PresentationFormat>Diaprojekcija na zaslonu (16:9)</PresentationFormat>
  <Paragraphs>56</Paragraphs>
  <Slides>3</Slides>
  <Notes>3</Notes>
  <HiddenSlides>0</HiddenSlides>
  <MMClips>0</MMClips>
  <ScaleCrop>false</ScaleCrop>
  <HeadingPairs>
    <vt:vector size="6" baseType="variant">
      <vt:variant>
        <vt:lpstr>Uporabljene pisave</vt:lpstr>
      </vt:variant>
      <vt:variant>
        <vt:i4>3</vt:i4>
      </vt:variant>
      <vt:variant>
        <vt:lpstr>Tema</vt:lpstr>
      </vt:variant>
      <vt:variant>
        <vt:i4>1</vt:i4>
      </vt:variant>
      <vt:variant>
        <vt:lpstr>Naslovi diapozitivov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Analiza ponudbe študentskega dela v Sloveniji na podlagi oglasov e-Študentskega servisa  </vt:lpstr>
      <vt:lpstr>PowerPointova predstavitev</vt:lpstr>
      <vt:lpstr>Dodatne zanimive ugotovitve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Naslov projekta naj bo kratek, informativen in naj povzame bistvo projekta</dc:title>
  <dc:subject/>
  <dc:creator>Jan Tuhta</dc:creator>
  <cp:keywords/>
  <dc:description/>
  <cp:lastModifiedBy>Tuhtar, Jan</cp:lastModifiedBy>
  <cp:revision>35</cp:revision>
  <dcterms:created xsi:type="dcterms:W3CDTF">2020-04-03T06:53:29Z</dcterms:created>
  <dcterms:modified xsi:type="dcterms:W3CDTF">2026-04-12T08:40:35Z</dcterms:modified>
  <cp:category/>
</cp:coreProperties>
</file>